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6"/>
    <p:sldId id="274" r:id="rId7"/>
    <p:sldId id="265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A2775-4B1A-80B4-975E-7F9A8D30F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A9635-7024-4CF2-C57C-8AF16E6E4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AE157-ADEE-B494-D283-B14478077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54FF-64A0-4FDD-B6B7-A0DC629AB1B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BDE61-6798-ABB9-53BE-DACDEA265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9AB2E-83E6-6C48-4C19-C4F2CA40A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5397-73ED-45FE-8A21-CF124A609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95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ED970-728D-CBE8-22F8-4D6AA3966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EA87B-C72F-E946-F627-90641E2C2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71218-EBF9-70D3-1989-435324F88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54FF-64A0-4FDD-B6B7-A0DC629AB1B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316D8-D568-1B81-C55A-7E2354B47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1E58B-9ECD-75A7-0BC9-969D8D6F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5397-73ED-45FE-8A21-CF124A609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970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5DFA-DF9F-8D4D-5BE9-B5D34F511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580E3-AED4-852C-5AF0-C5DB8D02B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A399A-8612-5470-D42E-1700B296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54FF-64A0-4FDD-B6B7-A0DC629AB1B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74A0D-D9A5-832E-46DE-20BFB965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EF737-DA52-0AA5-8F88-807D96DC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5397-73ED-45FE-8A21-CF124A609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41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E885F-28CB-DDBA-9030-A54A2026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65F24-4A85-ED40-9BF0-DF50B393B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B425E-8603-46FC-D6F8-40F58E085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8C1E3-D265-9354-F4DC-838236276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54FF-64A0-4FDD-B6B7-A0DC629AB1B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1E349-19F4-ECDE-B1DB-CAB0F608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7749A-7682-1954-1C82-B12ECC51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5397-73ED-45FE-8A21-CF124A609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68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4D43-CEFD-87AF-670E-BCA9F3C60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EEBB0-69DF-9BE6-201E-3C4D77B12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3BFEF-ACC9-0518-58B7-FA3F9D8D8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E15958-A8F2-23F9-2589-231F69AB6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89E68-59EC-F41A-9C7C-CAC2E2AB9D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2FF1CA-84B0-E1E5-C8F6-75B40872D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54FF-64A0-4FDD-B6B7-A0DC629AB1B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F31B9F-D14F-D62C-C5AD-CC1DEEC7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BC9EFF-EC25-E9E7-C3C5-1682E0C9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5397-73ED-45FE-8A21-CF124A609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342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50537-EDFA-8B96-89FC-546AF87A9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0B718-F617-A516-D711-739297F33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54FF-64A0-4FDD-B6B7-A0DC629AB1B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1EE53-2979-B4BE-CB70-1DB83CDC5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A8EAB-14F2-1744-FD59-1A944F21B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5397-73ED-45FE-8A21-CF124A609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368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981CA4-06C7-6779-3E38-0F051099A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54FF-64A0-4FDD-B6B7-A0DC629AB1B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E0FAEE-FA48-5505-45E4-AB9FE37D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8BE02-F463-FA71-DDE8-933404109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5397-73ED-45FE-8A21-CF124A609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16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98D5-39E4-4A71-3A80-2694A79B3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41F4F-4AF8-BF3E-73FB-40F2F1BEE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CF0A71-61B5-0B0D-7379-19AEA08B9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5EA25-4216-C6DC-8107-050A9BC85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54FF-64A0-4FDD-B6B7-A0DC629AB1B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58954-62AC-BEBE-8162-020FB6899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7E861-CBD3-5E50-4EB0-44208155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5397-73ED-45FE-8A21-CF124A609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801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172D0-B41F-1799-AC02-EE6638E70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8053C6-8059-06E2-017F-AABAF7042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12EAB-F903-BFD5-08C3-263127CB9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9D256-DBE9-CE04-6430-2D26025AF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54FF-64A0-4FDD-B6B7-A0DC629AB1B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2B107-F9B0-8356-FFC8-08FA42D1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C7091-6BC5-3E00-A49D-F5A02231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5397-73ED-45FE-8A21-CF124A609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761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4CA27-5CFF-55EA-518D-419B391AC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7E000B-8305-ABF3-56CE-03CE35AF6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F1399-75D9-77E6-80B4-4167D08CB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54FF-64A0-4FDD-B6B7-A0DC629AB1B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CBF9E-8A84-FC6A-5CE4-2B3B3F460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5166-581D-8B52-0394-60ECFF2A0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5397-73ED-45FE-8A21-CF124A609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701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099956-F804-9D0C-EDF8-B6CC5DC9E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9235D-424B-CC57-78E0-C67E48AD0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18015-0EF1-5914-BED3-95F4DEFC4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54FF-64A0-4FDD-B6B7-A0DC629AB1B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EFC36-4671-796D-A013-B9E96C603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92590-E283-BA32-7B5F-26FFB5F2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5397-73ED-45FE-8A21-CF124A609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42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159AF8-A75F-F1C9-0484-F0555EAF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5EF3F-82B4-E43D-77A4-757CF2932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E595B-CA47-C099-684C-BB3AB1309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454FF-64A0-4FDD-B6B7-A0DC629AB1B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19978-4724-EFFB-1F17-D97E9C21D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A569D-377D-EB7B-55BB-C21FBA209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95397-73ED-45FE-8A21-CF124A609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51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7CAF750-0266-DD26-00E4-850EFDE6DF52}"/>
              </a:ext>
            </a:extLst>
          </p:cNvPr>
          <p:cNvSpPr/>
          <p:nvPr/>
        </p:nvSpPr>
        <p:spPr>
          <a:xfrm>
            <a:off x="1117600" y="0"/>
            <a:ext cx="11074400" cy="6858000"/>
          </a:xfrm>
          <a:custGeom>
            <a:avLst/>
            <a:gdLst>
              <a:gd name="csX0" fmla="*/ 0 w 11074400"/>
              <a:gd name="csY0" fmla="*/ 0 h 6858000"/>
              <a:gd name="csX1" fmla="*/ 11074400 w 11074400"/>
              <a:gd name="csY1" fmla="*/ 0 h 6858000"/>
              <a:gd name="csX2" fmla="*/ 11074400 w 11074400"/>
              <a:gd name="csY2" fmla="*/ 6858000 h 6858000"/>
              <a:gd name="csX3" fmla="*/ 0 w 11074400"/>
              <a:gd name="csY3" fmla="*/ 6858000 h 6858000"/>
              <a:gd name="csX4" fmla="*/ 0 w 11074400"/>
              <a:gd name="csY4" fmla="*/ 1587500 h 6858000"/>
              <a:gd name="csX5" fmla="*/ 213782 w 11074400"/>
              <a:gd name="csY5" fmla="*/ 1587500 h 6858000"/>
              <a:gd name="csX6" fmla="*/ 457200 w 11074400"/>
              <a:gd name="csY6" fmla="*/ 1344082 h 6858000"/>
              <a:gd name="csX7" fmla="*/ 457200 w 11074400"/>
              <a:gd name="csY7" fmla="*/ 1056218 h 6858000"/>
              <a:gd name="csX8" fmla="*/ 213782 w 11074400"/>
              <a:gd name="csY8" fmla="*/ 812800 h 6858000"/>
              <a:gd name="csX9" fmla="*/ 0 w 11074400"/>
              <a:gd name="csY9" fmla="*/ 8128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074400" h="6858000">
                <a:moveTo>
                  <a:pt x="0" y="0"/>
                </a:moveTo>
                <a:lnTo>
                  <a:pt x="11074400" y="0"/>
                </a:lnTo>
                <a:lnTo>
                  <a:pt x="11074400" y="6858000"/>
                </a:lnTo>
                <a:lnTo>
                  <a:pt x="0" y="6858000"/>
                </a:lnTo>
                <a:lnTo>
                  <a:pt x="0" y="1587500"/>
                </a:lnTo>
                <a:lnTo>
                  <a:pt x="213782" y="1587500"/>
                </a:lnTo>
                <a:cubicBezTo>
                  <a:pt x="348218" y="1587500"/>
                  <a:pt x="457200" y="1478518"/>
                  <a:pt x="457200" y="1344082"/>
                </a:cubicBezTo>
                <a:lnTo>
                  <a:pt x="457200" y="1056218"/>
                </a:lnTo>
                <a:cubicBezTo>
                  <a:pt x="457200" y="921782"/>
                  <a:pt x="348218" y="812800"/>
                  <a:pt x="213782" y="812800"/>
                </a:cubicBezTo>
                <a:lnTo>
                  <a:pt x="0" y="8128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381000" dist="381000" dir="10800000" sx="98000" sy="98000" algn="r" rotWithShape="0">
              <a:srgbClr val="74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EA93268-C305-B9B9-F2E8-D70FFD985750}"/>
              </a:ext>
            </a:extLst>
          </p:cNvPr>
          <p:cNvGrpSpPr/>
          <p:nvPr/>
        </p:nvGrpSpPr>
        <p:grpSpPr>
          <a:xfrm>
            <a:off x="1066800" y="890042"/>
            <a:ext cx="10058400" cy="5610891"/>
            <a:chOff x="1066800" y="890042"/>
            <a:chExt cx="10058400" cy="5610891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D73CDDA9-7D63-C906-0BF6-C825D89AA909}"/>
                </a:ext>
              </a:extLst>
            </p:cNvPr>
            <p:cNvSpPr txBox="1">
              <a:spLocks/>
            </p:cNvSpPr>
            <p:nvPr/>
          </p:nvSpPr>
          <p:spPr>
            <a:xfrm>
              <a:off x="1676400" y="1274763"/>
              <a:ext cx="9144000" cy="23876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FDD9F3-E37A-AA66-03AB-A9BC3EF35855}"/>
                </a:ext>
              </a:extLst>
            </p:cNvPr>
            <p:cNvSpPr txBox="1"/>
            <p:nvPr/>
          </p:nvSpPr>
          <p:spPr>
            <a:xfrm>
              <a:off x="1066800" y="890042"/>
              <a:ext cx="977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4000" b="1" dirty="0">
                <a:solidFill>
                  <a:srgbClr val="321547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20DDF11-FB64-BE50-1D34-E0218EB6694B}"/>
                </a:ext>
              </a:extLst>
            </p:cNvPr>
            <p:cNvSpPr txBox="1"/>
            <p:nvPr/>
          </p:nvSpPr>
          <p:spPr>
            <a:xfrm>
              <a:off x="2108200" y="1028700"/>
              <a:ext cx="9017000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600" b="1" dirty="0">
                  <a:solidFill>
                    <a:srgbClr val="740000"/>
                  </a:solidFill>
                  <a:latin typeface="Century Gothic" panose="020B0502020202020204" pitchFamily="34" charset="0"/>
                </a:rPr>
                <a:t>Plagiarism</a:t>
              </a:r>
            </a:p>
            <a:p>
              <a:r>
                <a:rPr lang="en-IN" sz="9600" b="1" dirty="0">
                  <a:solidFill>
                    <a:srgbClr val="740000"/>
                  </a:solidFill>
                  <a:latin typeface="Century Gothic" panose="020B0502020202020204" pitchFamily="34" charset="0"/>
                </a:rPr>
                <a:t>Checker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626F1D9-46BA-0B89-B6AB-5A11501FEBD8}"/>
                </a:ext>
              </a:extLst>
            </p:cNvPr>
            <p:cNvSpPr txBox="1"/>
            <p:nvPr/>
          </p:nvSpPr>
          <p:spPr>
            <a:xfrm>
              <a:off x="2108200" y="5669936"/>
              <a:ext cx="7289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rgbClr val="740000"/>
                  </a:solidFill>
                  <a:latin typeface="Century Gothic" panose="020B0502020202020204" pitchFamily="34" charset="0"/>
                </a:rPr>
                <a:t>Presented By : Gaurav Gunjan</a:t>
              </a:r>
            </a:p>
            <a:p>
              <a:r>
                <a:rPr lang="en-IN" sz="2400" b="1" dirty="0">
                  <a:solidFill>
                    <a:srgbClr val="740000"/>
                  </a:solidFill>
                  <a:latin typeface="Century Gothic" panose="020B0502020202020204" pitchFamily="34" charset="0"/>
                </a:rPr>
                <a:t>Course: BCA (AI &amp; DS)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149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2F421-713D-3BFA-8FBD-AF06E14F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70D9120-B9AF-1C7A-8A50-B11D6010BE06}"/>
              </a:ext>
            </a:extLst>
          </p:cNvPr>
          <p:cNvSpPr/>
          <p:nvPr/>
        </p:nvSpPr>
        <p:spPr>
          <a:xfrm>
            <a:off x="1117600" y="0"/>
            <a:ext cx="11074400" cy="6858000"/>
          </a:xfrm>
          <a:custGeom>
            <a:avLst/>
            <a:gdLst>
              <a:gd name="csX0" fmla="*/ 0 w 11074400"/>
              <a:gd name="csY0" fmla="*/ 0 h 6858000"/>
              <a:gd name="csX1" fmla="*/ 11074400 w 11074400"/>
              <a:gd name="csY1" fmla="*/ 0 h 6858000"/>
              <a:gd name="csX2" fmla="*/ 11074400 w 11074400"/>
              <a:gd name="csY2" fmla="*/ 6858000 h 6858000"/>
              <a:gd name="csX3" fmla="*/ 0 w 11074400"/>
              <a:gd name="csY3" fmla="*/ 6858000 h 6858000"/>
              <a:gd name="csX4" fmla="*/ 0 w 11074400"/>
              <a:gd name="csY4" fmla="*/ 1587500 h 6858000"/>
              <a:gd name="csX5" fmla="*/ 213782 w 11074400"/>
              <a:gd name="csY5" fmla="*/ 1587500 h 6858000"/>
              <a:gd name="csX6" fmla="*/ 457200 w 11074400"/>
              <a:gd name="csY6" fmla="*/ 1344082 h 6858000"/>
              <a:gd name="csX7" fmla="*/ 457200 w 11074400"/>
              <a:gd name="csY7" fmla="*/ 1056218 h 6858000"/>
              <a:gd name="csX8" fmla="*/ 213782 w 11074400"/>
              <a:gd name="csY8" fmla="*/ 812800 h 6858000"/>
              <a:gd name="csX9" fmla="*/ 0 w 11074400"/>
              <a:gd name="csY9" fmla="*/ 8128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074400" h="6858000">
                <a:moveTo>
                  <a:pt x="0" y="0"/>
                </a:moveTo>
                <a:lnTo>
                  <a:pt x="11074400" y="0"/>
                </a:lnTo>
                <a:lnTo>
                  <a:pt x="11074400" y="6858000"/>
                </a:lnTo>
                <a:lnTo>
                  <a:pt x="0" y="6858000"/>
                </a:lnTo>
                <a:lnTo>
                  <a:pt x="0" y="1587500"/>
                </a:lnTo>
                <a:lnTo>
                  <a:pt x="213782" y="1587500"/>
                </a:lnTo>
                <a:cubicBezTo>
                  <a:pt x="348218" y="1587500"/>
                  <a:pt x="457200" y="1478518"/>
                  <a:pt x="457200" y="1344082"/>
                </a:cubicBezTo>
                <a:lnTo>
                  <a:pt x="457200" y="1056218"/>
                </a:lnTo>
                <a:cubicBezTo>
                  <a:pt x="457200" y="921782"/>
                  <a:pt x="348218" y="812800"/>
                  <a:pt x="213782" y="812800"/>
                </a:cubicBezTo>
                <a:lnTo>
                  <a:pt x="0" y="8128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381000" dist="381000" dir="10800000" sx="98000" sy="98000" algn="r" rotWithShape="0">
              <a:srgbClr val="74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75AB96-18A9-4CF2-EDA9-25CE865B81DA}"/>
              </a:ext>
            </a:extLst>
          </p:cNvPr>
          <p:cNvGrpSpPr/>
          <p:nvPr/>
        </p:nvGrpSpPr>
        <p:grpSpPr>
          <a:xfrm>
            <a:off x="1066800" y="890042"/>
            <a:ext cx="9753600" cy="2772321"/>
            <a:chOff x="1066800" y="890042"/>
            <a:chExt cx="9753600" cy="2772321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B9B38CAC-BAB1-CDFC-B112-F58A1040F5FB}"/>
                </a:ext>
              </a:extLst>
            </p:cNvPr>
            <p:cNvSpPr txBox="1">
              <a:spLocks/>
            </p:cNvSpPr>
            <p:nvPr/>
          </p:nvSpPr>
          <p:spPr>
            <a:xfrm>
              <a:off x="1676400" y="1274763"/>
              <a:ext cx="9144000" cy="23876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353F9E6-88FA-2C3D-80F1-5E3E9F40FBB4}"/>
                </a:ext>
              </a:extLst>
            </p:cNvPr>
            <p:cNvSpPr txBox="1"/>
            <p:nvPr/>
          </p:nvSpPr>
          <p:spPr>
            <a:xfrm>
              <a:off x="1066800" y="890042"/>
              <a:ext cx="977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000" b="1" dirty="0">
                  <a:solidFill>
                    <a:srgbClr val="321547"/>
                  </a:solidFill>
                  <a:latin typeface="Century Gothic" panose="020B0502020202020204" pitchFamily="34" charset="0"/>
                </a:rPr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030E158-585E-40FD-82C3-3096A73CE9A2}"/>
              </a:ext>
            </a:extLst>
          </p:cNvPr>
          <p:cNvSpPr txBox="1"/>
          <p:nvPr/>
        </p:nvSpPr>
        <p:spPr>
          <a:xfrm>
            <a:off x="2235200" y="679971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740000"/>
                </a:solidFill>
                <a:latin typeface="Century Gothic" panose="020B0502020202020204" pitchFamily="34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D3A404-C5B9-1533-60A0-15CD9FE0D5D3}"/>
              </a:ext>
            </a:extLst>
          </p:cNvPr>
          <p:cNvSpPr txBox="1"/>
          <p:nvPr/>
        </p:nvSpPr>
        <p:spPr>
          <a:xfrm>
            <a:off x="2178050" y="1665547"/>
            <a:ext cx="98762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Apply </a:t>
            </a:r>
            <a:r>
              <a:rPr lang="en-US" sz="2000" b="1" dirty="0"/>
              <a:t>OOP concepts</a:t>
            </a:r>
            <a:r>
              <a:rPr lang="en-US" sz="2000" dirty="0"/>
              <a:t> in C++</a:t>
            </a:r>
          </a:p>
          <a:p>
            <a:r>
              <a:rPr lang="en-US" sz="2000" dirty="0"/>
              <a:t>Read and process text files</a:t>
            </a:r>
          </a:p>
          <a:p>
            <a:r>
              <a:rPr lang="en-US" sz="2000" dirty="0"/>
              <a:t>Tokenize and normalize words</a:t>
            </a:r>
          </a:p>
          <a:p>
            <a:r>
              <a:rPr lang="en-US" sz="2000" dirty="0"/>
              <a:t>Compare documents for similarity</a:t>
            </a:r>
          </a:p>
          <a:p>
            <a:r>
              <a:rPr lang="en-US" sz="2000" dirty="0"/>
              <a:t>Display results with clear statistics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09360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8C85-5507-0B9D-865F-8B8DF6124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99DD94-47A4-714F-1FB2-E54008DB22EC}"/>
              </a:ext>
            </a:extLst>
          </p:cNvPr>
          <p:cNvSpPr/>
          <p:nvPr/>
        </p:nvSpPr>
        <p:spPr>
          <a:xfrm>
            <a:off x="1117600" y="0"/>
            <a:ext cx="11074400" cy="6858000"/>
          </a:xfrm>
          <a:custGeom>
            <a:avLst/>
            <a:gdLst>
              <a:gd name="csX0" fmla="*/ 0 w 11074400"/>
              <a:gd name="csY0" fmla="*/ 0 h 6858000"/>
              <a:gd name="csX1" fmla="*/ 11074400 w 11074400"/>
              <a:gd name="csY1" fmla="*/ 0 h 6858000"/>
              <a:gd name="csX2" fmla="*/ 11074400 w 11074400"/>
              <a:gd name="csY2" fmla="*/ 6858000 h 6858000"/>
              <a:gd name="csX3" fmla="*/ 0 w 11074400"/>
              <a:gd name="csY3" fmla="*/ 6858000 h 6858000"/>
              <a:gd name="csX4" fmla="*/ 0 w 11074400"/>
              <a:gd name="csY4" fmla="*/ 1587500 h 6858000"/>
              <a:gd name="csX5" fmla="*/ 213782 w 11074400"/>
              <a:gd name="csY5" fmla="*/ 1587500 h 6858000"/>
              <a:gd name="csX6" fmla="*/ 457200 w 11074400"/>
              <a:gd name="csY6" fmla="*/ 1344082 h 6858000"/>
              <a:gd name="csX7" fmla="*/ 457200 w 11074400"/>
              <a:gd name="csY7" fmla="*/ 1056218 h 6858000"/>
              <a:gd name="csX8" fmla="*/ 213782 w 11074400"/>
              <a:gd name="csY8" fmla="*/ 812800 h 6858000"/>
              <a:gd name="csX9" fmla="*/ 0 w 11074400"/>
              <a:gd name="csY9" fmla="*/ 8128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074400" h="6858000">
                <a:moveTo>
                  <a:pt x="0" y="0"/>
                </a:moveTo>
                <a:lnTo>
                  <a:pt x="11074400" y="0"/>
                </a:lnTo>
                <a:lnTo>
                  <a:pt x="11074400" y="6858000"/>
                </a:lnTo>
                <a:lnTo>
                  <a:pt x="0" y="6858000"/>
                </a:lnTo>
                <a:lnTo>
                  <a:pt x="0" y="1587500"/>
                </a:lnTo>
                <a:lnTo>
                  <a:pt x="213782" y="1587500"/>
                </a:lnTo>
                <a:cubicBezTo>
                  <a:pt x="348218" y="1587500"/>
                  <a:pt x="457200" y="1478518"/>
                  <a:pt x="457200" y="1344082"/>
                </a:cubicBezTo>
                <a:lnTo>
                  <a:pt x="457200" y="1056218"/>
                </a:lnTo>
                <a:cubicBezTo>
                  <a:pt x="457200" y="921782"/>
                  <a:pt x="348218" y="812800"/>
                  <a:pt x="213782" y="812800"/>
                </a:cubicBezTo>
                <a:lnTo>
                  <a:pt x="0" y="8128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381000" dist="381000" dir="10800000" sx="98000" sy="98000" algn="r" rotWithShape="0">
              <a:srgbClr val="74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B4CD49-1853-CD79-9187-687870109909}"/>
              </a:ext>
            </a:extLst>
          </p:cNvPr>
          <p:cNvGrpSpPr/>
          <p:nvPr/>
        </p:nvGrpSpPr>
        <p:grpSpPr>
          <a:xfrm>
            <a:off x="1066800" y="890042"/>
            <a:ext cx="9753600" cy="2772321"/>
            <a:chOff x="1066800" y="890042"/>
            <a:chExt cx="9753600" cy="2772321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0B7CAA0F-799C-A544-F3BF-DE2441091493}"/>
                </a:ext>
              </a:extLst>
            </p:cNvPr>
            <p:cNvSpPr txBox="1">
              <a:spLocks/>
            </p:cNvSpPr>
            <p:nvPr/>
          </p:nvSpPr>
          <p:spPr>
            <a:xfrm>
              <a:off x="1676400" y="1274763"/>
              <a:ext cx="9144000" cy="23876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8448EB-7708-98C4-36DF-5E21D39FAE20}"/>
                </a:ext>
              </a:extLst>
            </p:cNvPr>
            <p:cNvSpPr txBox="1"/>
            <p:nvPr/>
          </p:nvSpPr>
          <p:spPr>
            <a:xfrm>
              <a:off x="1066800" y="890042"/>
              <a:ext cx="977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000" b="1" dirty="0">
                  <a:solidFill>
                    <a:srgbClr val="321547"/>
                  </a:solidFill>
                  <a:latin typeface="Century Gothic" panose="020B0502020202020204" pitchFamily="34" charset="0"/>
                </a:rPr>
                <a:t>2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8183E03-7CBB-C707-E2C4-F50BF2C64A36}"/>
              </a:ext>
            </a:extLst>
          </p:cNvPr>
          <p:cNvSpPr txBox="1"/>
          <p:nvPr/>
        </p:nvSpPr>
        <p:spPr>
          <a:xfrm>
            <a:off x="2235200" y="679971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740000"/>
                </a:solidFill>
                <a:latin typeface="Century Gothic" panose="020B0502020202020204" pitchFamily="34" charset="0"/>
              </a:rPr>
              <a:t>OOP Concepts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B147F8-CCEF-9381-42D0-76DA122B1C67}"/>
              </a:ext>
            </a:extLst>
          </p:cNvPr>
          <p:cNvSpPr txBox="1"/>
          <p:nvPr/>
        </p:nvSpPr>
        <p:spPr>
          <a:xfrm>
            <a:off x="2178050" y="1665548"/>
            <a:ext cx="9258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Class &amp; Objects</a:t>
            </a:r>
            <a:r>
              <a:rPr lang="en-IN" sz="2000" dirty="0"/>
              <a:t> → </a:t>
            </a:r>
            <a:r>
              <a:rPr lang="en-IN" dirty="0"/>
              <a:t>Document</a:t>
            </a:r>
            <a:r>
              <a:rPr lang="en-IN" sz="2000" dirty="0"/>
              <a:t>, </a:t>
            </a:r>
            <a:r>
              <a:rPr lang="en-IN" dirty="0" err="1"/>
              <a:t>TerminalRenderer</a:t>
            </a:r>
            <a:endParaRPr lang="en-IN" dirty="0"/>
          </a:p>
          <a:p>
            <a:r>
              <a:rPr lang="en-IN" sz="2000" b="1" dirty="0"/>
              <a:t>Encapsulation</a:t>
            </a:r>
            <a:r>
              <a:rPr lang="en-IN" sz="2000" dirty="0"/>
              <a:t> → Private data (</a:t>
            </a:r>
            <a:r>
              <a:rPr lang="en-IN" dirty="0"/>
              <a:t>filename</a:t>
            </a:r>
            <a:r>
              <a:rPr lang="en-IN" sz="2000" dirty="0"/>
              <a:t>, </a:t>
            </a:r>
            <a:r>
              <a:rPr lang="en-IN" dirty="0"/>
              <a:t>content</a:t>
            </a:r>
            <a:r>
              <a:rPr lang="en-IN" sz="2000" dirty="0"/>
              <a:t>, </a:t>
            </a:r>
            <a:r>
              <a:rPr lang="en-IN" dirty="0"/>
              <a:t>words</a:t>
            </a:r>
            <a:r>
              <a:rPr lang="en-IN" sz="2000" dirty="0"/>
              <a:t>)</a:t>
            </a:r>
          </a:p>
          <a:p>
            <a:r>
              <a:rPr lang="en-US" sz="2000" b="1" dirty="0"/>
              <a:t>Abstraction</a:t>
            </a:r>
            <a:r>
              <a:rPr lang="en-US" sz="2000" dirty="0"/>
              <a:t> → Public methods (</a:t>
            </a:r>
            <a:r>
              <a:rPr lang="en-US" dirty="0" err="1"/>
              <a:t>getWords</a:t>
            </a:r>
            <a:r>
              <a:rPr lang="en-US" dirty="0"/>
              <a:t>()</a:t>
            </a:r>
            <a:r>
              <a:rPr lang="en-US" sz="2000" dirty="0"/>
              <a:t>, </a:t>
            </a:r>
            <a:r>
              <a:rPr lang="en-US" dirty="0" err="1"/>
              <a:t>getWordCount</a:t>
            </a:r>
            <a:r>
              <a:rPr lang="en-US" dirty="0"/>
              <a:t>()</a:t>
            </a:r>
            <a:r>
              <a:rPr lang="en-US" sz="2000" dirty="0"/>
              <a:t>)</a:t>
            </a:r>
          </a:p>
          <a:p>
            <a:r>
              <a:rPr lang="en-IN" sz="2000" b="1" dirty="0"/>
              <a:t>Modularity</a:t>
            </a:r>
            <a:r>
              <a:rPr lang="en-IN" sz="2000" dirty="0"/>
              <a:t> → Separate responsibilities (Document handles data, Renderer handles output)</a:t>
            </a:r>
          </a:p>
          <a:p>
            <a:r>
              <a:rPr lang="en-IN" sz="2000" b="1" dirty="0"/>
              <a:t>Reusability</a:t>
            </a:r>
            <a:r>
              <a:rPr lang="en-IN" sz="2000" dirty="0"/>
              <a:t> → Functions like </a:t>
            </a:r>
            <a:r>
              <a:rPr lang="en-IN" dirty="0" err="1"/>
              <a:t>normalizeAndTokenize</a:t>
            </a:r>
            <a:r>
              <a:rPr lang="en-IN" dirty="0"/>
              <a:t>()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12031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E0353-A0B3-BB35-FC06-42A498440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8D0C1A0-FC90-B65A-DB21-0C96C43D43C0}"/>
              </a:ext>
            </a:extLst>
          </p:cNvPr>
          <p:cNvSpPr/>
          <p:nvPr/>
        </p:nvSpPr>
        <p:spPr>
          <a:xfrm>
            <a:off x="1117600" y="0"/>
            <a:ext cx="11074400" cy="6858000"/>
          </a:xfrm>
          <a:custGeom>
            <a:avLst/>
            <a:gdLst>
              <a:gd name="csX0" fmla="*/ 0 w 11074400"/>
              <a:gd name="csY0" fmla="*/ 0 h 6858000"/>
              <a:gd name="csX1" fmla="*/ 11074400 w 11074400"/>
              <a:gd name="csY1" fmla="*/ 0 h 6858000"/>
              <a:gd name="csX2" fmla="*/ 11074400 w 11074400"/>
              <a:gd name="csY2" fmla="*/ 6858000 h 6858000"/>
              <a:gd name="csX3" fmla="*/ 0 w 11074400"/>
              <a:gd name="csY3" fmla="*/ 6858000 h 6858000"/>
              <a:gd name="csX4" fmla="*/ 0 w 11074400"/>
              <a:gd name="csY4" fmla="*/ 1587500 h 6858000"/>
              <a:gd name="csX5" fmla="*/ 213782 w 11074400"/>
              <a:gd name="csY5" fmla="*/ 1587500 h 6858000"/>
              <a:gd name="csX6" fmla="*/ 457200 w 11074400"/>
              <a:gd name="csY6" fmla="*/ 1344082 h 6858000"/>
              <a:gd name="csX7" fmla="*/ 457200 w 11074400"/>
              <a:gd name="csY7" fmla="*/ 1056218 h 6858000"/>
              <a:gd name="csX8" fmla="*/ 213782 w 11074400"/>
              <a:gd name="csY8" fmla="*/ 812800 h 6858000"/>
              <a:gd name="csX9" fmla="*/ 0 w 11074400"/>
              <a:gd name="csY9" fmla="*/ 8128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074400" h="6858000">
                <a:moveTo>
                  <a:pt x="0" y="0"/>
                </a:moveTo>
                <a:lnTo>
                  <a:pt x="11074400" y="0"/>
                </a:lnTo>
                <a:lnTo>
                  <a:pt x="11074400" y="6858000"/>
                </a:lnTo>
                <a:lnTo>
                  <a:pt x="0" y="6858000"/>
                </a:lnTo>
                <a:lnTo>
                  <a:pt x="0" y="1587500"/>
                </a:lnTo>
                <a:lnTo>
                  <a:pt x="213782" y="1587500"/>
                </a:lnTo>
                <a:cubicBezTo>
                  <a:pt x="348218" y="1587500"/>
                  <a:pt x="457200" y="1478518"/>
                  <a:pt x="457200" y="1344082"/>
                </a:cubicBezTo>
                <a:lnTo>
                  <a:pt x="457200" y="1056218"/>
                </a:lnTo>
                <a:cubicBezTo>
                  <a:pt x="457200" y="921782"/>
                  <a:pt x="348218" y="812800"/>
                  <a:pt x="213782" y="812800"/>
                </a:cubicBezTo>
                <a:lnTo>
                  <a:pt x="0" y="8128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381000" dist="381000" dir="10800000" sx="98000" sy="98000" algn="r" rotWithShape="0">
              <a:srgbClr val="74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39E047-297B-28FB-940C-D571C1731264}"/>
              </a:ext>
            </a:extLst>
          </p:cNvPr>
          <p:cNvGrpSpPr/>
          <p:nvPr/>
        </p:nvGrpSpPr>
        <p:grpSpPr>
          <a:xfrm>
            <a:off x="1066800" y="890042"/>
            <a:ext cx="9753600" cy="2772321"/>
            <a:chOff x="1066800" y="890042"/>
            <a:chExt cx="9753600" cy="2772321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F0BF486F-AB6C-20FE-39E5-EC019DF8FD64}"/>
                </a:ext>
              </a:extLst>
            </p:cNvPr>
            <p:cNvSpPr txBox="1">
              <a:spLocks/>
            </p:cNvSpPr>
            <p:nvPr/>
          </p:nvSpPr>
          <p:spPr>
            <a:xfrm>
              <a:off x="1676400" y="1274763"/>
              <a:ext cx="9144000" cy="23876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7CD10DE-8181-6D03-ECF2-C345A50B6B09}"/>
                </a:ext>
              </a:extLst>
            </p:cNvPr>
            <p:cNvSpPr txBox="1"/>
            <p:nvPr/>
          </p:nvSpPr>
          <p:spPr>
            <a:xfrm>
              <a:off x="1066800" y="890042"/>
              <a:ext cx="977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000" b="1" dirty="0">
                  <a:solidFill>
                    <a:srgbClr val="321547"/>
                  </a:solidFill>
                  <a:latin typeface="Century Gothic" panose="020B0502020202020204" pitchFamily="34" charset="0"/>
                </a:rPr>
                <a:t>3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393D7BB-2598-8969-7AE8-542701B15849}"/>
              </a:ext>
            </a:extLst>
          </p:cNvPr>
          <p:cNvSpPr txBox="1"/>
          <p:nvPr/>
        </p:nvSpPr>
        <p:spPr>
          <a:xfrm>
            <a:off x="2235200" y="679971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740000"/>
                </a:solidFill>
                <a:latin typeface="Century Gothic" panose="020B0502020202020204" pitchFamily="34" charset="0"/>
              </a:rPr>
              <a:t>Main Function Workflow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823AD0-60DB-71A2-A116-F832A7A493EE}"/>
                  </a:ext>
                </a:extLst>
              </p:cNvPr>
              <p:cNvSpPr txBox="1"/>
              <p:nvPr/>
            </p:nvSpPr>
            <p:spPr>
              <a:xfrm>
                <a:off x="2178050" y="1665548"/>
                <a:ext cx="9258300" cy="3155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Print header</a:t>
                </a:r>
              </a:p>
              <a:p>
                <a:r>
                  <a:rPr lang="en-IN" sz="2000" dirty="0">
                    <a:effectLst/>
                  </a:rPr>
                  <a:t>Validate arguments (</a:t>
                </a:r>
                <a:r>
                  <a:rPr lang="en-IN" dirty="0" err="1"/>
                  <a:t>argc</a:t>
                </a:r>
                <a:r>
                  <a:rPr lang="en-IN" dirty="0"/>
                  <a:t> &lt; 3</a:t>
                </a:r>
                <a:r>
                  <a:rPr lang="en-IN" sz="2000" dirty="0">
                    <a:effectLst/>
                  </a:rPr>
                  <a:t>)</a:t>
                </a:r>
                <a:endParaRPr lang="en-IN" sz="2000" dirty="0"/>
              </a:p>
              <a:p>
                <a:r>
                  <a:rPr lang="en-IN" sz="2000" dirty="0">
                    <a:effectLst/>
                  </a:rPr>
                  <a:t>Load documents (</a:t>
                </a:r>
                <a:r>
                  <a:rPr lang="en-IN" dirty="0"/>
                  <a:t>Document doc1, doc2</a:t>
                </a:r>
                <a:r>
                  <a:rPr lang="en-IN" sz="2000" dirty="0">
                    <a:effectLst/>
                  </a:rPr>
                  <a:t>)</a:t>
                </a:r>
                <a:endParaRPr lang="en-IN" sz="2000" dirty="0"/>
              </a:p>
              <a:p>
                <a:r>
                  <a:rPr lang="en-IN" sz="2000" dirty="0">
                    <a:effectLst/>
                  </a:rPr>
                  <a:t>Check if empty</a:t>
                </a:r>
                <a:endParaRPr lang="en-IN" sz="2000" dirty="0"/>
              </a:p>
              <a:p>
                <a:r>
                  <a:rPr lang="en-IN" sz="2000" dirty="0">
                    <a:effectLst/>
                  </a:rPr>
                  <a:t>Compare unique words</a:t>
                </a:r>
                <a:endParaRPr lang="en-IN" sz="2000" dirty="0"/>
              </a:p>
              <a:p>
                <a:r>
                  <a:rPr lang="en-IN" sz="2000" dirty="0">
                    <a:effectLst/>
                  </a:rPr>
                  <a:t>Calculate similarity:</a:t>
                </a:r>
                <a:endParaRPr lang="en-I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 b="0"/>
                        <m:t>Similarity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/>
                            <m:t>Matched</m:t>
                          </m:r>
                          <m:r>
                            <m:rPr>
                              <m:nor/>
                            </m:rPr>
                            <a:rPr lang="en-IN" i="1"/>
                            <m:t> </m:t>
                          </m:r>
                          <m:r>
                            <m:rPr>
                              <m:nor/>
                            </m:rPr>
                            <a:rPr lang="en-IN" i="1"/>
                            <m:t>Words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i="1"/>
                            <m:t>Union</m:t>
                          </m:r>
                          <m:r>
                            <m:rPr>
                              <m:nor/>
                            </m:rPr>
                            <a:rPr lang="en-IN" i="1"/>
                            <m:t> </m:t>
                          </m:r>
                          <m:r>
                            <m:rPr>
                              <m:nor/>
                            </m:rPr>
                            <a:rPr lang="en-IN" i="1"/>
                            <m:t>of</m:t>
                          </m:r>
                          <m:r>
                            <m:rPr>
                              <m:nor/>
                            </m:rPr>
                            <a:rPr lang="en-IN" i="1"/>
                            <m:t> </m:t>
                          </m:r>
                          <m:r>
                            <m:rPr>
                              <m:nor/>
                            </m:rPr>
                            <a:rPr lang="en-IN" i="1"/>
                            <m:t>Unique</m:t>
                          </m:r>
                          <m:r>
                            <m:rPr>
                              <m:nor/>
                            </m:rPr>
                            <a:rPr lang="en-IN" i="1"/>
                            <m:t> </m:t>
                          </m:r>
                          <m:r>
                            <m:rPr>
                              <m:nor/>
                            </m:rPr>
                            <a:rPr lang="en-IN" i="1"/>
                            <m:t>Words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ar-AE" sz="2000" b="0" dirty="0"/>
              </a:p>
              <a:p>
                <a:r>
                  <a:rPr lang="en-IN" sz="2000" dirty="0">
                    <a:effectLst/>
                  </a:rPr>
                  <a:t>Display matches, stats, and verdict</a:t>
                </a:r>
                <a:endParaRPr lang="en-IN" sz="2000" dirty="0"/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823AD0-60DB-71A2-A116-F832A7A49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050" y="1665548"/>
                <a:ext cx="9258300" cy="3155992"/>
              </a:xfrm>
              <a:prstGeom prst="rect">
                <a:avLst/>
              </a:prstGeom>
              <a:blipFill>
                <a:blip r:embed="rId2"/>
                <a:stretch>
                  <a:fillRect l="-658" t="-9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4303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032CC-6824-B69E-B7F2-13D114D8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125124-22D0-DAF0-00EF-EA4C11B757B7}"/>
              </a:ext>
            </a:extLst>
          </p:cNvPr>
          <p:cNvSpPr/>
          <p:nvPr/>
        </p:nvSpPr>
        <p:spPr>
          <a:xfrm>
            <a:off x="1117600" y="0"/>
            <a:ext cx="11074400" cy="6858000"/>
          </a:xfrm>
          <a:custGeom>
            <a:avLst/>
            <a:gdLst>
              <a:gd name="csX0" fmla="*/ 0 w 11074400"/>
              <a:gd name="csY0" fmla="*/ 0 h 6858000"/>
              <a:gd name="csX1" fmla="*/ 11074400 w 11074400"/>
              <a:gd name="csY1" fmla="*/ 0 h 6858000"/>
              <a:gd name="csX2" fmla="*/ 11074400 w 11074400"/>
              <a:gd name="csY2" fmla="*/ 6858000 h 6858000"/>
              <a:gd name="csX3" fmla="*/ 0 w 11074400"/>
              <a:gd name="csY3" fmla="*/ 6858000 h 6858000"/>
              <a:gd name="csX4" fmla="*/ 0 w 11074400"/>
              <a:gd name="csY4" fmla="*/ 1587500 h 6858000"/>
              <a:gd name="csX5" fmla="*/ 213782 w 11074400"/>
              <a:gd name="csY5" fmla="*/ 1587500 h 6858000"/>
              <a:gd name="csX6" fmla="*/ 457200 w 11074400"/>
              <a:gd name="csY6" fmla="*/ 1344082 h 6858000"/>
              <a:gd name="csX7" fmla="*/ 457200 w 11074400"/>
              <a:gd name="csY7" fmla="*/ 1056218 h 6858000"/>
              <a:gd name="csX8" fmla="*/ 213782 w 11074400"/>
              <a:gd name="csY8" fmla="*/ 812800 h 6858000"/>
              <a:gd name="csX9" fmla="*/ 0 w 11074400"/>
              <a:gd name="csY9" fmla="*/ 8128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074400" h="6858000">
                <a:moveTo>
                  <a:pt x="0" y="0"/>
                </a:moveTo>
                <a:lnTo>
                  <a:pt x="11074400" y="0"/>
                </a:lnTo>
                <a:lnTo>
                  <a:pt x="11074400" y="6858000"/>
                </a:lnTo>
                <a:lnTo>
                  <a:pt x="0" y="6858000"/>
                </a:lnTo>
                <a:lnTo>
                  <a:pt x="0" y="1587500"/>
                </a:lnTo>
                <a:lnTo>
                  <a:pt x="213782" y="1587500"/>
                </a:lnTo>
                <a:cubicBezTo>
                  <a:pt x="348218" y="1587500"/>
                  <a:pt x="457200" y="1478518"/>
                  <a:pt x="457200" y="1344082"/>
                </a:cubicBezTo>
                <a:lnTo>
                  <a:pt x="457200" y="1056218"/>
                </a:lnTo>
                <a:cubicBezTo>
                  <a:pt x="457200" y="921782"/>
                  <a:pt x="348218" y="812800"/>
                  <a:pt x="213782" y="812800"/>
                </a:cubicBezTo>
                <a:lnTo>
                  <a:pt x="0" y="8128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381000" dist="381000" dir="10800000" sx="98000" sy="98000" algn="r" rotWithShape="0">
              <a:srgbClr val="74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5EF0C0-E111-346A-C59D-29C0B04BD17F}"/>
              </a:ext>
            </a:extLst>
          </p:cNvPr>
          <p:cNvGrpSpPr/>
          <p:nvPr/>
        </p:nvGrpSpPr>
        <p:grpSpPr>
          <a:xfrm>
            <a:off x="1066800" y="890042"/>
            <a:ext cx="9753600" cy="2772321"/>
            <a:chOff x="1066800" y="890042"/>
            <a:chExt cx="9753600" cy="2772321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8E2DB611-E3BC-C68D-F46B-31C138D90F39}"/>
                </a:ext>
              </a:extLst>
            </p:cNvPr>
            <p:cNvSpPr txBox="1">
              <a:spLocks/>
            </p:cNvSpPr>
            <p:nvPr/>
          </p:nvSpPr>
          <p:spPr>
            <a:xfrm>
              <a:off x="1676400" y="1274763"/>
              <a:ext cx="9144000" cy="23876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A8717B-2A27-48DB-A677-D20C623E3723}"/>
                </a:ext>
              </a:extLst>
            </p:cNvPr>
            <p:cNvSpPr txBox="1"/>
            <p:nvPr/>
          </p:nvSpPr>
          <p:spPr>
            <a:xfrm>
              <a:off x="1066800" y="890042"/>
              <a:ext cx="977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000" b="1" dirty="0">
                  <a:solidFill>
                    <a:srgbClr val="321547"/>
                  </a:solidFill>
                  <a:latin typeface="Century Gothic" panose="020B0502020202020204" pitchFamily="34" charset="0"/>
                </a:rPr>
                <a:t>4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FEB1828-9ED1-0D14-6E0E-1BE79C4EA93D}"/>
              </a:ext>
            </a:extLst>
          </p:cNvPr>
          <p:cNvSpPr txBox="1"/>
          <p:nvPr/>
        </p:nvSpPr>
        <p:spPr>
          <a:xfrm>
            <a:off x="2235200" y="679971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740000"/>
                </a:solidFill>
                <a:latin typeface="Century Gothic" panose="020B0502020202020204" pitchFamily="34" charset="0"/>
              </a:rPr>
              <a:t>Example 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597775-6967-1E1C-BF8C-95D99A9417E9}"/>
              </a:ext>
            </a:extLst>
          </p:cNvPr>
          <p:cNvSpPr txBox="1"/>
          <p:nvPr/>
        </p:nvSpPr>
        <p:spPr>
          <a:xfrm>
            <a:off x="2178050" y="1665548"/>
            <a:ext cx="92583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Header:</a:t>
            </a:r>
            <a:r>
              <a:rPr lang="en-IN" sz="2000" dirty="0"/>
              <a:t> </a:t>
            </a:r>
            <a:r>
              <a:rPr lang="en-IN" sz="2000" dirty="0" err="1"/>
              <a:t>PlagCheck</a:t>
            </a:r>
            <a:r>
              <a:rPr lang="en-IN" sz="2000" dirty="0"/>
              <a:t> banner</a:t>
            </a:r>
          </a:p>
          <a:p>
            <a:r>
              <a:rPr lang="en-US" sz="2000" b="1" dirty="0"/>
              <a:t>Common Words:</a:t>
            </a:r>
            <a:r>
              <a:rPr lang="en-US" sz="2000" dirty="0"/>
              <a:t> List of matches</a:t>
            </a:r>
          </a:p>
          <a:p>
            <a:r>
              <a:rPr lang="en-US" sz="2000" b="1" dirty="0"/>
              <a:t>Statistics:</a:t>
            </a:r>
            <a:r>
              <a:rPr lang="en-US" sz="2000" dirty="0"/>
              <a:t> Word counts, unique words, union</a:t>
            </a:r>
          </a:p>
          <a:p>
            <a:r>
              <a:rPr lang="en-IN" sz="2000" b="1" dirty="0"/>
              <a:t>Final Score:</a:t>
            </a:r>
            <a:r>
              <a:rPr lang="en-IN" sz="2000" dirty="0"/>
              <a:t> % similarity</a:t>
            </a:r>
          </a:p>
          <a:p>
            <a:r>
              <a:rPr lang="en-US" sz="2000" b="1" dirty="0"/>
              <a:t>Verdict:</a:t>
            </a:r>
            <a:r>
              <a:rPr lang="en-US" sz="2000" dirty="0"/>
              <a:t> High / Moderate / Low / Minimal plagiarism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1815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37145-282C-57BF-E31C-A1A02D01A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8AD2B1-06C9-F64A-9444-2F4B71C5C77F}"/>
              </a:ext>
            </a:extLst>
          </p:cNvPr>
          <p:cNvSpPr/>
          <p:nvPr/>
        </p:nvSpPr>
        <p:spPr>
          <a:xfrm>
            <a:off x="1117600" y="0"/>
            <a:ext cx="11074400" cy="6858000"/>
          </a:xfrm>
          <a:custGeom>
            <a:avLst/>
            <a:gdLst>
              <a:gd name="csX0" fmla="*/ 0 w 11074400"/>
              <a:gd name="csY0" fmla="*/ 0 h 6858000"/>
              <a:gd name="csX1" fmla="*/ 11074400 w 11074400"/>
              <a:gd name="csY1" fmla="*/ 0 h 6858000"/>
              <a:gd name="csX2" fmla="*/ 11074400 w 11074400"/>
              <a:gd name="csY2" fmla="*/ 6858000 h 6858000"/>
              <a:gd name="csX3" fmla="*/ 0 w 11074400"/>
              <a:gd name="csY3" fmla="*/ 6858000 h 6858000"/>
              <a:gd name="csX4" fmla="*/ 0 w 11074400"/>
              <a:gd name="csY4" fmla="*/ 1587500 h 6858000"/>
              <a:gd name="csX5" fmla="*/ 213782 w 11074400"/>
              <a:gd name="csY5" fmla="*/ 1587500 h 6858000"/>
              <a:gd name="csX6" fmla="*/ 457200 w 11074400"/>
              <a:gd name="csY6" fmla="*/ 1344082 h 6858000"/>
              <a:gd name="csX7" fmla="*/ 457200 w 11074400"/>
              <a:gd name="csY7" fmla="*/ 1056218 h 6858000"/>
              <a:gd name="csX8" fmla="*/ 213782 w 11074400"/>
              <a:gd name="csY8" fmla="*/ 812800 h 6858000"/>
              <a:gd name="csX9" fmla="*/ 0 w 11074400"/>
              <a:gd name="csY9" fmla="*/ 8128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074400" h="6858000">
                <a:moveTo>
                  <a:pt x="0" y="0"/>
                </a:moveTo>
                <a:lnTo>
                  <a:pt x="11074400" y="0"/>
                </a:lnTo>
                <a:lnTo>
                  <a:pt x="11074400" y="6858000"/>
                </a:lnTo>
                <a:lnTo>
                  <a:pt x="0" y="6858000"/>
                </a:lnTo>
                <a:lnTo>
                  <a:pt x="0" y="1587500"/>
                </a:lnTo>
                <a:lnTo>
                  <a:pt x="213782" y="1587500"/>
                </a:lnTo>
                <a:cubicBezTo>
                  <a:pt x="348218" y="1587500"/>
                  <a:pt x="457200" y="1478518"/>
                  <a:pt x="457200" y="1344082"/>
                </a:cubicBezTo>
                <a:lnTo>
                  <a:pt x="457200" y="1056218"/>
                </a:lnTo>
                <a:cubicBezTo>
                  <a:pt x="457200" y="921782"/>
                  <a:pt x="348218" y="812800"/>
                  <a:pt x="213782" y="812800"/>
                </a:cubicBezTo>
                <a:lnTo>
                  <a:pt x="0" y="8128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381000" dist="381000" dir="10800000" sx="98000" sy="98000" algn="r" rotWithShape="0">
              <a:srgbClr val="74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F2AB888-C0AF-2F09-033E-C93A026ADBEF}"/>
              </a:ext>
            </a:extLst>
          </p:cNvPr>
          <p:cNvGrpSpPr/>
          <p:nvPr/>
        </p:nvGrpSpPr>
        <p:grpSpPr>
          <a:xfrm>
            <a:off x="1066800" y="890042"/>
            <a:ext cx="9753600" cy="2772321"/>
            <a:chOff x="1066800" y="890042"/>
            <a:chExt cx="9753600" cy="2772321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E4BF1544-FC69-44AA-C1E2-5841AF07E458}"/>
                </a:ext>
              </a:extLst>
            </p:cNvPr>
            <p:cNvSpPr txBox="1">
              <a:spLocks/>
            </p:cNvSpPr>
            <p:nvPr/>
          </p:nvSpPr>
          <p:spPr>
            <a:xfrm>
              <a:off x="1676400" y="1274763"/>
              <a:ext cx="9144000" cy="23876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CBBF01C-421D-E799-ABF6-0B585317279A}"/>
                </a:ext>
              </a:extLst>
            </p:cNvPr>
            <p:cNvSpPr txBox="1"/>
            <p:nvPr/>
          </p:nvSpPr>
          <p:spPr>
            <a:xfrm>
              <a:off x="1066800" y="890042"/>
              <a:ext cx="977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000" b="1" dirty="0">
                  <a:solidFill>
                    <a:srgbClr val="321547"/>
                  </a:solidFill>
                  <a:latin typeface="Century Gothic" panose="020B0502020202020204" pitchFamily="34" charset="0"/>
                </a:rPr>
                <a:t>5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D8787BD-851A-FA09-72C1-1D6056D57D31}"/>
              </a:ext>
            </a:extLst>
          </p:cNvPr>
          <p:cNvSpPr txBox="1"/>
          <p:nvPr/>
        </p:nvSpPr>
        <p:spPr>
          <a:xfrm>
            <a:off x="2235200" y="679971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740000"/>
                </a:solidFill>
                <a:latin typeface="Century Gothic" panose="020B0502020202020204" pitchFamily="34" charset="0"/>
              </a:rPr>
              <a:t>Example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405D23-173F-BBEB-4E23-7338FB0CC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027" y="1597928"/>
            <a:ext cx="9760346" cy="345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90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D691-641D-C8DE-2B7F-18A1D9404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7874960-FA39-9BC7-E2F9-CF39AEA7AAFD}"/>
              </a:ext>
            </a:extLst>
          </p:cNvPr>
          <p:cNvSpPr/>
          <p:nvPr/>
        </p:nvSpPr>
        <p:spPr>
          <a:xfrm>
            <a:off x="1117600" y="0"/>
            <a:ext cx="11074400" cy="6858000"/>
          </a:xfrm>
          <a:custGeom>
            <a:avLst/>
            <a:gdLst>
              <a:gd name="csX0" fmla="*/ 0 w 11074400"/>
              <a:gd name="csY0" fmla="*/ 0 h 6858000"/>
              <a:gd name="csX1" fmla="*/ 11074400 w 11074400"/>
              <a:gd name="csY1" fmla="*/ 0 h 6858000"/>
              <a:gd name="csX2" fmla="*/ 11074400 w 11074400"/>
              <a:gd name="csY2" fmla="*/ 6858000 h 6858000"/>
              <a:gd name="csX3" fmla="*/ 0 w 11074400"/>
              <a:gd name="csY3" fmla="*/ 6858000 h 6858000"/>
              <a:gd name="csX4" fmla="*/ 0 w 11074400"/>
              <a:gd name="csY4" fmla="*/ 1587500 h 6858000"/>
              <a:gd name="csX5" fmla="*/ 213782 w 11074400"/>
              <a:gd name="csY5" fmla="*/ 1587500 h 6858000"/>
              <a:gd name="csX6" fmla="*/ 457200 w 11074400"/>
              <a:gd name="csY6" fmla="*/ 1344082 h 6858000"/>
              <a:gd name="csX7" fmla="*/ 457200 w 11074400"/>
              <a:gd name="csY7" fmla="*/ 1056218 h 6858000"/>
              <a:gd name="csX8" fmla="*/ 213782 w 11074400"/>
              <a:gd name="csY8" fmla="*/ 812800 h 6858000"/>
              <a:gd name="csX9" fmla="*/ 0 w 11074400"/>
              <a:gd name="csY9" fmla="*/ 8128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074400" h="6858000">
                <a:moveTo>
                  <a:pt x="0" y="0"/>
                </a:moveTo>
                <a:lnTo>
                  <a:pt x="11074400" y="0"/>
                </a:lnTo>
                <a:lnTo>
                  <a:pt x="11074400" y="6858000"/>
                </a:lnTo>
                <a:lnTo>
                  <a:pt x="0" y="6858000"/>
                </a:lnTo>
                <a:lnTo>
                  <a:pt x="0" y="1587500"/>
                </a:lnTo>
                <a:lnTo>
                  <a:pt x="213782" y="1587500"/>
                </a:lnTo>
                <a:cubicBezTo>
                  <a:pt x="348218" y="1587500"/>
                  <a:pt x="457200" y="1478518"/>
                  <a:pt x="457200" y="1344082"/>
                </a:cubicBezTo>
                <a:lnTo>
                  <a:pt x="457200" y="1056218"/>
                </a:lnTo>
                <a:cubicBezTo>
                  <a:pt x="457200" y="921782"/>
                  <a:pt x="348218" y="812800"/>
                  <a:pt x="213782" y="812800"/>
                </a:cubicBezTo>
                <a:lnTo>
                  <a:pt x="0" y="8128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381000" dist="381000" dir="10800000" sx="98000" sy="98000" algn="r" rotWithShape="0">
              <a:srgbClr val="74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E940ED-D5E4-4E5B-74C0-F8A92B3F46EC}"/>
              </a:ext>
            </a:extLst>
          </p:cNvPr>
          <p:cNvGrpSpPr/>
          <p:nvPr/>
        </p:nvGrpSpPr>
        <p:grpSpPr>
          <a:xfrm>
            <a:off x="1066800" y="890042"/>
            <a:ext cx="9753600" cy="2772321"/>
            <a:chOff x="1066800" y="890042"/>
            <a:chExt cx="9753600" cy="2772321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CA26BE4B-7A56-0681-69ED-49FD46B78D10}"/>
                </a:ext>
              </a:extLst>
            </p:cNvPr>
            <p:cNvSpPr txBox="1">
              <a:spLocks/>
            </p:cNvSpPr>
            <p:nvPr/>
          </p:nvSpPr>
          <p:spPr>
            <a:xfrm>
              <a:off x="1676400" y="1274763"/>
              <a:ext cx="9144000" cy="23876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0FD89CA-BEA6-E265-1F4F-F269A0585EF9}"/>
                </a:ext>
              </a:extLst>
            </p:cNvPr>
            <p:cNvSpPr txBox="1"/>
            <p:nvPr/>
          </p:nvSpPr>
          <p:spPr>
            <a:xfrm>
              <a:off x="1066800" y="890042"/>
              <a:ext cx="977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000" b="1" dirty="0">
                  <a:solidFill>
                    <a:srgbClr val="321547"/>
                  </a:solidFill>
                  <a:latin typeface="Century Gothic" panose="020B0502020202020204" pitchFamily="34" charset="0"/>
                </a:rPr>
                <a:t>6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40594B-4F21-9F7B-9311-ED58767C6B2D}"/>
              </a:ext>
            </a:extLst>
          </p:cNvPr>
          <p:cNvSpPr txBox="1"/>
          <p:nvPr/>
        </p:nvSpPr>
        <p:spPr>
          <a:xfrm>
            <a:off x="2235200" y="679971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740000"/>
                </a:solidFill>
                <a:latin typeface="Century Gothic" panose="020B0502020202020204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69C54-6FA7-758C-D08B-43C4C6731631}"/>
              </a:ext>
            </a:extLst>
          </p:cNvPr>
          <p:cNvSpPr txBox="1"/>
          <p:nvPr/>
        </p:nvSpPr>
        <p:spPr>
          <a:xfrm>
            <a:off x="2178050" y="1665548"/>
            <a:ext cx="92583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OOP in C++ makes the plagiarism checker </a:t>
            </a:r>
            <a:r>
              <a:rPr lang="en-US" sz="2000" b="1" dirty="0"/>
              <a:t>structured, modular, and reusable</a:t>
            </a:r>
            <a:endParaRPr lang="en-US" sz="2000" dirty="0"/>
          </a:p>
          <a:p>
            <a:r>
              <a:rPr lang="en-US" sz="2000" dirty="0"/>
              <a:t>Combines </a:t>
            </a:r>
            <a:r>
              <a:rPr lang="en-US" sz="2000" b="1" dirty="0"/>
              <a:t>file handling, string processing</a:t>
            </a:r>
          </a:p>
          <a:p>
            <a:r>
              <a:rPr lang="en-US" sz="2000" dirty="0"/>
              <a:t>Practical example of </a:t>
            </a:r>
            <a:r>
              <a:rPr lang="en-US" sz="2000" b="1" dirty="0"/>
              <a:t>encapsulation + abstraction</a:t>
            </a:r>
            <a:endParaRPr lang="en-US" sz="2000" dirty="0"/>
          </a:p>
          <a:p>
            <a:r>
              <a:rPr lang="en-US" sz="2000" dirty="0"/>
              <a:t>Ready for extension into GUI or web-based checker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56599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7C25E-1114-8FE0-E03A-CA31DCEB1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BD2C83F-41B2-C3FB-3382-E812D043D220}"/>
              </a:ext>
            </a:extLst>
          </p:cNvPr>
          <p:cNvSpPr/>
          <p:nvPr/>
        </p:nvSpPr>
        <p:spPr>
          <a:xfrm>
            <a:off x="1117600" y="0"/>
            <a:ext cx="11074400" cy="6858000"/>
          </a:xfrm>
          <a:custGeom>
            <a:avLst/>
            <a:gdLst>
              <a:gd name="csX0" fmla="*/ 0 w 11074400"/>
              <a:gd name="csY0" fmla="*/ 0 h 6858000"/>
              <a:gd name="csX1" fmla="*/ 11074400 w 11074400"/>
              <a:gd name="csY1" fmla="*/ 0 h 6858000"/>
              <a:gd name="csX2" fmla="*/ 11074400 w 11074400"/>
              <a:gd name="csY2" fmla="*/ 6858000 h 6858000"/>
              <a:gd name="csX3" fmla="*/ 0 w 11074400"/>
              <a:gd name="csY3" fmla="*/ 6858000 h 6858000"/>
              <a:gd name="csX4" fmla="*/ 0 w 11074400"/>
              <a:gd name="csY4" fmla="*/ 1587500 h 6858000"/>
              <a:gd name="csX5" fmla="*/ 213782 w 11074400"/>
              <a:gd name="csY5" fmla="*/ 1587500 h 6858000"/>
              <a:gd name="csX6" fmla="*/ 457200 w 11074400"/>
              <a:gd name="csY6" fmla="*/ 1344082 h 6858000"/>
              <a:gd name="csX7" fmla="*/ 457200 w 11074400"/>
              <a:gd name="csY7" fmla="*/ 1056218 h 6858000"/>
              <a:gd name="csX8" fmla="*/ 213782 w 11074400"/>
              <a:gd name="csY8" fmla="*/ 812800 h 6858000"/>
              <a:gd name="csX9" fmla="*/ 0 w 11074400"/>
              <a:gd name="csY9" fmla="*/ 8128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074400" h="6858000">
                <a:moveTo>
                  <a:pt x="0" y="0"/>
                </a:moveTo>
                <a:lnTo>
                  <a:pt x="11074400" y="0"/>
                </a:lnTo>
                <a:lnTo>
                  <a:pt x="11074400" y="6858000"/>
                </a:lnTo>
                <a:lnTo>
                  <a:pt x="0" y="6858000"/>
                </a:lnTo>
                <a:lnTo>
                  <a:pt x="0" y="1587500"/>
                </a:lnTo>
                <a:lnTo>
                  <a:pt x="213782" y="1587500"/>
                </a:lnTo>
                <a:cubicBezTo>
                  <a:pt x="348218" y="1587500"/>
                  <a:pt x="457200" y="1478518"/>
                  <a:pt x="457200" y="1344082"/>
                </a:cubicBezTo>
                <a:lnTo>
                  <a:pt x="457200" y="1056218"/>
                </a:lnTo>
                <a:cubicBezTo>
                  <a:pt x="457200" y="921782"/>
                  <a:pt x="348218" y="812800"/>
                  <a:pt x="213782" y="812800"/>
                </a:cubicBezTo>
                <a:lnTo>
                  <a:pt x="0" y="8128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381000" dist="381000" dir="10800000" sx="98000" sy="98000" algn="r" rotWithShape="0">
              <a:srgbClr val="74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512EEDC-8AC3-240F-C24A-C3C1C482D1C3}"/>
              </a:ext>
            </a:extLst>
          </p:cNvPr>
          <p:cNvGrpSpPr/>
          <p:nvPr/>
        </p:nvGrpSpPr>
        <p:grpSpPr>
          <a:xfrm>
            <a:off x="1066800" y="890042"/>
            <a:ext cx="10058400" cy="3185646"/>
            <a:chOff x="1066800" y="890042"/>
            <a:chExt cx="10058400" cy="3185646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BE72187B-8764-B1C3-E1E9-D070673410BA}"/>
                </a:ext>
              </a:extLst>
            </p:cNvPr>
            <p:cNvSpPr txBox="1">
              <a:spLocks/>
            </p:cNvSpPr>
            <p:nvPr/>
          </p:nvSpPr>
          <p:spPr>
            <a:xfrm>
              <a:off x="1676400" y="1274763"/>
              <a:ext cx="9144000" cy="23876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33B96EC-DE8F-D9E9-D4D7-8C9D2BCC0628}"/>
                </a:ext>
              </a:extLst>
            </p:cNvPr>
            <p:cNvSpPr txBox="1"/>
            <p:nvPr/>
          </p:nvSpPr>
          <p:spPr>
            <a:xfrm>
              <a:off x="1066800" y="890042"/>
              <a:ext cx="977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4000" b="1" dirty="0">
                <a:solidFill>
                  <a:srgbClr val="321547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131C016-B95D-0D65-FBF3-58CD0439469C}"/>
                </a:ext>
              </a:extLst>
            </p:cNvPr>
            <p:cNvSpPr txBox="1"/>
            <p:nvPr/>
          </p:nvSpPr>
          <p:spPr>
            <a:xfrm>
              <a:off x="2108200" y="1028700"/>
              <a:ext cx="9017000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9600" b="1" dirty="0">
                  <a:solidFill>
                    <a:srgbClr val="740000"/>
                  </a:solidFill>
                  <a:latin typeface="Century Gothic" panose="020B0502020202020204" pitchFamily="34" charset="0"/>
                </a:rPr>
                <a:t>Thank </a:t>
              </a:r>
            </a:p>
            <a:p>
              <a:pPr algn="ctr"/>
              <a:r>
                <a:rPr lang="en-IN" sz="9600" b="1" dirty="0">
                  <a:solidFill>
                    <a:srgbClr val="740000"/>
                  </a:solidFill>
                  <a:latin typeface="Century Gothic" panose="020B0502020202020204" pitchFamily="34" charset="0"/>
                </a:rPr>
                <a:t>You !!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1045173"/>
      </p:ext>
    </p:extLst>
  </p:cSld>
  <p:clrMapOvr>
    <a:masterClrMapping/>
  </p:clrMapOvr>
</p:sld>
</file>

<file path=ppt/theme/theme1.xml><?xml version="1.0" encoding="utf-8"?>
<a:theme xmlns:a="http://schemas.openxmlformats.org/drawingml/2006/main" name="Gaurav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uravs theme" id="{25EB23D5-27E6-464A-A67A-05DA355E53FC}" vid="{112E390F-F24A-4D56-A9AE-6F386F0CEE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Gauravs theme</Template>
  <TotalTime>163</TotalTime>
  <Words>212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Century Gothic</vt:lpstr>
      <vt:lpstr>Gauravs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Gunjan</dc:creator>
  <cp:lastModifiedBy>Gaurav Gunjan</cp:lastModifiedBy>
  <cp:revision>2</cp:revision>
  <dcterms:created xsi:type="dcterms:W3CDTF">2026-04-27T17:07:21Z</dcterms:created>
  <dcterms:modified xsi:type="dcterms:W3CDTF">2026-04-27T19:51:59Z</dcterms:modified>
</cp:coreProperties>
</file>